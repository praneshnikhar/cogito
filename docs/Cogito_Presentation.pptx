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7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096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30-second intro: MongoDB is not just storage here — it is the search engine, vector store, event bus, and analytics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course objective in one sentence, then the project problem. The scope strip keeps the demo honest: we are not claiming production multi-tenancy or HA. The success line is the flow the evaluator will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the one-sentence justification, then the comparison. The relational option is not wrong; it is a worse fit because the read is a chunk with its vector and metadata. Mention that MongoDB removes both a separate search engine and a vector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chunk JSON: text, vector, page, title, and boost in one document. That is the modeling argument. The bottom line answers the scalability and access-pattern part of the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the table. Say: create queues a pending document; update marks it pending and the change stream rebuilds chunks; delete removes the document and all chunks atomically. The UI exercises all four, including the live pending→indexed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pillars: change streams for ingestion, hybrid retrieval for search, aggregation for analytics. The 100-candidate ratio is the main ANN tuning knob. The measurements are from the verification run; hosted model calls are network-bound.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Trace a request: UI → FastAPI → MongoDB hybrid aggregation → LLM answer. The worker consumes the change stream separately. The token never reaches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precise: 17 unit tests plus CI plus a manual E2E run. Do not overclaim an automated DB integration suite. The write path is protected; read endpoints remain open for the demo and that is listed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demo and submission criterion. Follow the timeline; start empty and let the UI show pending→indexed, two different search results, a cited answer, a refusal, then CRUD and the dashboard. The plagiarism report is the one external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direct answer to “does it match the rubric?”. Every row names what we built and where to show it. The only external artifact is the plagiarism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what is actually delivered and the honest gaps. Then say the one-database line and invite questions. Do not claim production auth or 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0" y="182880"/>
            <a:ext cx="4023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0" b="1" i="0">
                <a:solidFill>
                  <a:srgbClr val="141C33"/>
                </a:solidFill>
                <a:latin typeface="Arial"/>
              </a:rPr>
              <a:t>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F8CFF"/>
                </a:solidFill>
                <a:latin typeface="Arial"/>
              </a:rPr>
              <a:t>NOSQL DATABASES · COURSE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E7ECF7"/>
                </a:solidFill>
                <a:latin typeface="Arial"/>
              </a:rPr>
              <a:t>Cogito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6583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E7ECF7"/>
                </a:solidFill>
                <a:latin typeface="Arial"/>
              </a:rPr>
              <a:t>A MongoDB-native document assistant with hybrid search and cited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One database. Five roles: store · search · vector · event bus ·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0332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0BF"/>
                </a:solidFill>
                <a:latin typeface="Arial"/>
              </a:rPr>
              <a:t>Pranesh Nikhar · 2427010267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0BF"/>
                </a:solidFill>
                <a:latin typeface="Arial"/>
              </a:rPr>
              <a:t>Soumyajit Chatterjee · 2427010255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0BF"/>
                </a:solidFill>
                <a:latin typeface="Arial"/>
              </a:rPr>
              <a:t>Anmol Kaushik · 2427010576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0BF"/>
                </a:solidFill>
                <a:latin typeface="Arial"/>
              </a:rPr>
              <a:t>Ojas Khandelwal · 2427010381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989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0BF"/>
                </a:solidFill>
                <a:latin typeface="Arial"/>
              </a:rPr>
              <a:t>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659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20756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3DDC97"/>
                </a:solidFill>
                <a:latin typeface="Arial"/>
              </a:rPr>
              <a:t>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8658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93A0BF"/>
                </a:solidFill>
                <a:latin typeface="Arial"/>
              </a:rPr>
              <a:t>documents · chunks · vectors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1089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32186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8CFF"/>
                </a:solidFill>
                <a:latin typeface="Arial"/>
              </a:rPr>
              <a:t>mongot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52958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93A0BF"/>
                </a:solidFill>
                <a:latin typeface="Arial"/>
              </a:rPr>
              <a:t>$search + $vectorSearch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2519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3616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7C5CFF"/>
                </a:solidFill>
                <a:latin typeface="Arial"/>
              </a:rPr>
              <a:t>LLM +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67258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93A0BF"/>
                </a:solidFill>
                <a:latin typeface="Arial"/>
              </a:rPr>
              <a:t>pluggable · local fallback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1 · PROBLEM IDENTIFICATION AND REAL-WORLD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A real problem, a clear scope, and measurable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Evaluation objective: design, implement, and demonstrate a real-world NoSQL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64208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" y="1810512"/>
            <a:ext cx="45720" cy="27432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7393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Evaluation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21408"/>
            <a:ext cx="3081528" cy="267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Design, implement, and demonstrate a real-world application using a NoSQL database.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Assess practical implementation, data modeling, CRUD, querying, performance, and integration.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Any suitable NoSQL database is allowed — we chose MongoDB.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664208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62272" y="1810512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77393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Problem &amp; real-world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121408"/>
            <a:ext cx="3081528" cy="267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Knowledge is trapped in PDFs, contracts, policies, and notices.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Keyword search misses paraphrases; vector-only search misses clause numbers.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Unsourced chat answers create a trust gap.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Users: legal, compliance, HR, operations, onboarding, audits.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664208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02168" y="1810512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3" y="177393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Project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121408"/>
            <a:ext cx="3081528" cy="267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Zero-ETL ingestion through a MongoDB change stream.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Hybrid retrieval with cited answers.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Full document CRUD and aggregation analytics.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One MongoDB deployment; no separate search or vector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074920"/>
            <a:ext cx="11000232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19379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4F8CFF"/>
                </a:solidFill>
                <a:latin typeface="Arial"/>
              </a:rPr>
              <a:t>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1324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40" b="0" i="0">
                <a:solidFill>
                  <a:srgbClr val="93A0BF"/>
                </a:solidFill>
                <a:latin typeface="Arial"/>
              </a:rPr>
              <a:t>In scope: automatic ingestion, full CRUD, hybrid retrieval, cited Q&amp;A, aggregation analytics, REST API.   Out of scope: multi-tenant login, HA cluster sizing, OCR quality, model fine-tuning.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144768"/>
            <a:ext cx="11000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3A0BF"/>
                </a:solidFill>
                <a:latin typeface="Arial"/>
              </a:rPr>
              <a:t>Success: upload → indexed → search → cited answer → edit → delete, with a refusal for an unrelated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2 · NOSQL DATABASE SELECTION AND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MongoDB fits the retrieval unit — and beats the alternatives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Justified against relational + pgvector and against a dedicated vector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64208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" y="1810512"/>
            <a:ext cx="45720" cy="27432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73936"/>
            <a:ext cx="49377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Why NoSQL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21408"/>
            <a:ext cx="4910327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4F8CFF"/>
                </a:solidFill>
                <a:latin typeface="Arial"/>
              </a:rPr>
              <a:t>•  </a:t>
            </a:r>
            <a:r>
              <a:rPr sz="1019">
                <a:solidFill>
                  <a:srgbClr val="93A0BF"/>
                </a:solidFill>
                <a:latin typeface="Arial"/>
              </a:rPr>
              <a:t>Variable document shapes: PDFs, contracts, notes, optional pages.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4F8CFF"/>
                </a:solidFill>
                <a:latin typeface="Arial"/>
              </a:rPr>
              <a:t>•  </a:t>
            </a:r>
            <a:r>
              <a:rPr sz="1019">
                <a:solidFill>
                  <a:srgbClr val="93A0BF"/>
                </a:solidFill>
                <a:latin typeface="Arial"/>
              </a:rPr>
              <a:t>Retrieval-first access pattern, not multi-table reporting.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4F8CFF"/>
                </a:solidFill>
                <a:latin typeface="Arial"/>
              </a:rPr>
              <a:t>•  </a:t>
            </a:r>
            <a:r>
              <a:rPr sz="1019">
                <a:solidFill>
                  <a:srgbClr val="93A0BF"/>
                </a:solidFill>
                <a:latin typeface="Arial"/>
              </a:rPr>
              <a:t>Text, vectors, and metadata are read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64208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3368" y="1810512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773936"/>
            <a:ext cx="49377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Why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121408"/>
            <a:ext cx="4910327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4F8CFF"/>
                </a:solidFill>
                <a:latin typeface="Arial"/>
              </a:rPr>
              <a:t>•  </a:t>
            </a:r>
            <a:r>
              <a:rPr sz="1019">
                <a:solidFill>
                  <a:srgbClr val="93A0BF"/>
                </a:solidFill>
                <a:latin typeface="Arial"/>
              </a:rPr>
              <a:t>One JSON document = chunk + vector + metadata; no read-time join.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4F8CFF"/>
                </a:solidFill>
                <a:latin typeface="Arial"/>
              </a:rPr>
              <a:t>•  </a:t>
            </a:r>
            <a:r>
              <a:rPr sz="1019">
                <a:solidFill>
                  <a:srgbClr val="93A0BF"/>
                </a:solidFill>
                <a:latin typeface="Arial"/>
              </a:rPr>
              <a:t>Native $search + $vectorSearch + $rankFusion.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4F8CFF"/>
                </a:solidFill>
                <a:latin typeface="Arial"/>
              </a:rPr>
              <a:t>•  </a:t>
            </a:r>
            <a:r>
              <a:rPr sz="1019">
                <a:solidFill>
                  <a:srgbClr val="93A0BF"/>
                </a:solidFill>
                <a:latin typeface="Arial"/>
              </a:rPr>
              <a:t>Change streams, transactions, and aggregation in one system.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" y="3913632"/>
          <a:ext cx="11000232" cy="1783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Fit for this workload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Operational cost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MongoDB 8.2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Store + keyword search + vector search + events + analytics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One system, one backup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Chosen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Postgres + pgvector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Strong SQL; retrieval needs joins + a separate lexical index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More moving parts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Viable alternative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Dedicated vector DB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Excellent ANN; weak metadata + no operational analytics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Second store to sync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Not chosen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4360" y="5833872"/>
            <a:ext cx="110002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 i="0">
                <a:solidFill>
                  <a:srgbClr val="93A0BF"/>
                </a:solidFill>
                <a:latin typeface="Arial"/>
              </a:rPr>
              <a:t>What we did: MongoDB 8.2 + mongot in Docker Compose; a chunk document holds text, vector, and metadata; no second store to sync. Relational wins when schema is fixed and multi-table reporting dominates — that is not this workload.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3 · DATABASE DESIGN AND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Seven collections; chunks carry text, vector, and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Embedded vectors, optional fields, denormalized titles, access-pattern indexes.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64208"/>
          <a:ext cx="6400800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4F8CFF"/>
                          </a:solidFill>
                          <a:latin typeface="Arial"/>
                        </a:rPr>
                        <a:t>Collection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4F8CFF"/>
                          </a:solidFill>
                          <a:latin typeface="Arial"/>
                        </a:rPr>
                        <a:t>Holds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4F8CFF"/>
                          </a:solidFill>
                          <a:latin typeface="Arial"/>
                        </a:rPr>
                        <a:t>Key fields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documents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source + metadata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path, title, status, raw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chunks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passages + vectors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document_id, text, embedding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conversations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chat history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user_id, messages[]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memories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long-term facts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user_id, fact, embedding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query_logs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questions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latency_ms, chunk_ids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eval_results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judge scores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faithfulness, relevance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feedback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ratings (API only)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answer_id, rating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223760" y="1664208"/>
            <a:ext cx="4370832" cy="2606040"/>
          </a:xfrm>
          <a:prstGeom prst="roundRect">
            <a:avLst>
              <a:gd name="adj" fmla="val 4000"/>
            </a:avLst>
          </a:prstGeom>
          <a:solidFill>
            <a:srgbClr val="05070F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1773936"/>
            <a:ext cx="4114800" cy="2423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"_id": "c392cfe9-...",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"document_id": "82f9cb6d-...",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"text": "4.1 Late Delivery. ...",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"embedding": [0.013, -0.041, ...], // 768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"page": 1, "order": 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"token_count": 141,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"title": "contract_penalties.md",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"boost": 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37083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One document = text + vector + metadata; no join.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Optional page/summary; title denormalized for citations.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HNSW cosine index, 768d, scalar quantization.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50992"/>
            <a:ext cx="110002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9" b="0" i="0">
                <a:solidFill>
                  <a:srgbClr val="93A0BF"/>
                </a:solidFill>
                <a:latin typeface="Arial"/>
              </a:rPr>
              <a:t>What we did: 7 collections; chunk as the retrieval aggregate; optional fields; denormalized title; text, search, HNSW, and compound indexes. Scalability: shard candidate document_id, read replicas, quantized vectors.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4 · NOSQL DATABASE IMPLEMENTATION AND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Create, read, update, delete — implemented and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Every operation is available in the API and the web UI; persistence is 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82496"/>
          <a:ext cx="11000232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UI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Correctness / persistence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Create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POST /ingest, /ingest/raw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Upload / paste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10 MB cap, type whitelist, empty rejected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Read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GET /ingest/documents, /{id}, /chunks; POST /search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Documents + Search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404 handled; raw bytes hidden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Update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PATCH /ingest/documents/{id}; POST /{id}/reindex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Rename / Save / Reindex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Text edit → pending; chunk titles synced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1">
                          <a:solidFill>
                            <a:srgbClr val="E7ECF7"/>
                          </a:solidFill>
                          <a:latin typeface="Arial"/>
                        </a:rPr>
                        <a:t>Delete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DELETE /ingest/documents/{id}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Delete + confirm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90" b="0">
                          <a:solidFill>
                            <a:srgbClr val="93A0BF"/>
                          </a:solidFill>
                          <a:latin typeface="Arial"/>
                        </a:rPr>
                        <a:t>Document + chunks in one transaction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4828032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2376" y="4974336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4937760"/>
            <a:ext cx="49377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Persistence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285232"/>
            <a:ext cx="4910327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Arial"/>
              </a:rPr>
              <a:t>•  </a:t>
            </a:r>
            <a:r>
              <a:rPr sz="950">
                <a:solidFill>
                  <a:srgbClr val="93A0BF"/>
                </a:solidFill>
                <a:latin typeface="Arial"/>
              </a:rPr>
              <a:t>MongoDB restart retains documents, chunks, and indexes.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Arial"/>
              </a:rPr>
              <a:t>•  </a:t>
            </a:r>
            <a:r>
              <a:rPr sz="950">
                <a:solidFill>
                  <a:srgbClr val="93A0BF"/>
                </a:solidFill>
                <a:latin typeface="Arial"/>
              </a:rPr>
              <a:t>After delete, GET returns 404 and chunks are gone.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4828032"/>
            <a:ext cx="5349240" cy="1325880"/>
          </a:xfrm>
          <a:prstGeom prst="roundRect">
            <a:avLst>
              <a:gd name="adj" fmla="val 4000"/>
            </a:avLst>
          </a:prstGeom>
          <a:solidFill>
            <a:srgbClr val="05070F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4937760"/>
            <a:ext cx="5093207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async with await client.start_session() as 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  async with s.start_transaction():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      await chunks.delete_many({"document_id": doc_id}, session=s)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C9D4EA"/>
                </a:solidFill>
                <a:latin typeface="Consolas"/>
              </a:rPr>
              <a:t>        await documents.delete_one({"_id": doc_id}, session=s)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5 · ADVANCED NOSQL FEATURES AND QUERY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Change streams, hybrid search, aggregation —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Features chosen for this workload, not a feature checklist.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64208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" y="1810512"/>
            <a:ext cx="45720" cy="27432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7393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Event-driven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21408"/>
            <a:ext cx="3081528" cy="2359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Insert pending → change stream fires.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Worker extracts, chunks, embeds.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Transaction: chunks + status flip.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Resume token + startup backfill.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664208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62272" y="1810512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77393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Hybrid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121408"/>
            <a:ext cx="3081528" cy="2359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$search matches exact words and IDs.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$vectorSearch matches meaning.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$rankFusion / RRF: 1/(60+rank).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Fallback: $text + cosine + RRF.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664208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02168" y="1810512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3" y="177393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Analytics +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121408"/>
            <a:ext cx="3081528" cy="2359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$facet, $bucketAuto, $group, $dateToString.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Text, HNSW vector, and compound indexes.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100 candidates for k=5 (20× recall margin).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Optional cross-encoder reranker.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8920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500176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93A0BF"/>
                </a:solidFill>
                <a:latin typeface="Arial"/>
              </a:rPr>
              <a:t>LOCAL INGEST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193792"/>
            <a:ext cx="2350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3DDC97"/>
                </a:solidFill>
                <a:latin typeface="Arial"/>
              </a:rPr>
              <a:t>0.26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5413248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first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92424" y="48920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38728" y="500176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93A0BF"/>
                </a:solidFill>
                <a:latin typeface="Arial"/>
              </a:rPr>
              <a:t>WARM INGEST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193792"/>
            <a:ext cx="2350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3DDC97"/>
                </a:solidFill>
                <a:latin typeface="Arial"/>
              </a:rPr>
              <a:t>6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5413248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local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48920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6792" y="500176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93A0BF"/>
                </a:solidFill>
                <a:latin typeface="Arial"/>
              </a:rPr>
              <a:t>HOSTED EMBED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193792"/>
            <a:ext cx="2350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B020"/>
                </a:solidFill>
                <a:latin typeface="Arial"/>
              </a:rPr>
              <a:t>1.6–4.4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413248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network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8552" y="48920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34856" y="5001768"/>
            <a:ext cx="2350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93A0BF"/>
                </a:solidFill>
                <a:latin typeface="Arial"/>
              </a:rPr>
              <a:t>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5193792"/>
            <a:ext cx="23500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B020"/>
                </a:solidFill>
                <a:latin typeface="Arial"/>
              </a:rPr>
              <a:t>7.4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5413248"/>
            <a:ext cx="23500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chat + judge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925312"/>
            <a:ext cx="11000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3A0BF"/>
                </a:solidFill>
                <a:latin typeface="Arial"/>
              </a:rPr>
              <a:t>What we did: replica set rs0 enables change streams + transactions; the vector branch over-requests candidates; the dashboard is aggregation-only.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6 · APPLICATION INTEGRATION AND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Next.js + FastAPI + LLM, integrated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The UI is the product; one REST backend serves every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5256" y="1929384"/>
            <a:ext cx="45720" cy="27432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189280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Next.js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2240280"/>
            <a:ext cx="1938528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Documents · Chat · Dashboard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CRUD + search +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7830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68496" y="1929384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1892807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FastAPI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240280"/>
            <a:ext cx="1938528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REST endpoints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Async + Pydantic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664208"/>
            <a:ext cx="3246120" cy="169164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88936" y="1810512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6952" y="1773936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MongoDB + mongot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121408"/>
            <a:ext cx="2807208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documents · chunks · memories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$search · $vectorSearch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change streams · transactions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416052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488936" y="4306824"/>
            <a:ext cx="45720" cy="274320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16952" y="4270248"/>
            <a:ext cx="19202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Ingest worker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617720"/>
            <a:ext cx="1892807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change stream → chunks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Arial"/>
              </a:rPr>
              <a:t>•  </a:t>
            </a:r>
            <a:r>
              <a:rPr sz="900">
                <a:solidFill>
                  <a:srgbClr val="93A0BF"/>
                </a:solidFill>
                <a:latin typeface="Arial"/>
              </a:rPr>
              <a:t>provider embeddings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416052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968496" y="4306824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96512" y="427024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LLM + embeddings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461772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chat · embed · judge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provider-agnostic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16052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5256" y="4306824"/>
            <a:ext cx="45720" cy="27432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271" y="427024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Redis + Postgres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461772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cache · rate limit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19" b="1">
                <a:solidFill>
                  <a:srgbClr val="4F8CFF"/>
                </a:solidFill>
                <a:latin typeface="Arial"/>
              </a:rPr>
              <a:t>•  </a:t>
            </a:r>
            <a:r>
              <a:rPr sz="919">
                <a:solidFill>
                  <a:srgbClr val="93A0BF"/>
                </a:solidFill>
                <a:latin typeface="Arial"/>
              </a:rPr>
              <a:t>analytics mirror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200400" y="2331720"/>
            <a:ext cx="502920" cy="219456"/>
          </a:xfrm>
          <a:prstGeom prst="right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54680" y="2130551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0" i="0">
                <a:solidFill>
                  <a:srgbClr val="93A0BF"/>
                </a:solidFill>
                <a:latin typeface="Arial"/>
              </a:rPr>
              <a:t>REST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263640" y="2331720"/>
            <a:ext cx="960120" cy="219456"/>
          </a:xfrm>
          <a:prstGeom prst="right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2130551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0" i="0">
                <a:solidFill>
                  <a:srgbClr val="93A0BF"/>
                </a:solidFill>
                <a:latin typeface="Arial"/>
              </a:rPr>
              <a:t>query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8641080" y="3474720"/>
            <a:ext cx="219456" cy="502920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Up Arrow 38"/>
          <p:cNvSpPr/>
          <p:nvPr/>
        </p:nvSpPr>
        <p:spPr>
          <a:xfrm>
            <a:off x="7726679" y="3474720"/>
            <a:ext cx="219456" cy="502920"/>
          </a:xfrm>
          <a:prstGeom prst="up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Left Arrow 39"/>
          <p:cNvSpPr/>
          <p:nvPr/>
        </p:nvSpPr>
        <p:spPr>
          <a:xfrm>
            <a:off x="6355080" y="4590288"/>
            <a:ext cx="914400" cy="219456"/>
          </a:xfrm>
          <a:prstGeom prst="left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own Arrow 40"/>
          <p:cNvSpPr/>
          <p:nvPr/>
        </p:nvSpPr>
        <p:spPr>
          <a:xfrm>
            <a:off x="5029200" y="3310128"/>
            <a:ext cx="219456" cy="713232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Left Arrow 41"/>
          <p:cNvSpPr/>
          <p:nvPr/>
        </p:nvSpPr>
        <p:spPr>
          <a:xfrm>
            <a:off x="3246120" y="4590288"/>
            <a:ext cx="914400" cy="219456"/>
          </a:xfrm>
          <a:prstGeom prst="left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94360" y="5504688"/>
            <a:ext cx="9966960" cy="56692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5596128"/>
            <a:ext cx="9692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3A0BF"/>
                </a:solidFill>
                <a:latin typeface="Arial"/>
              </a:rPr>
              <a:t>What we did: documents CRUD, cited chat, aggregation dashboard, server-side token proxy. Errors: 400 / 401 / 404 / 413 / 422 / 429 surfaced in the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7 · TESTING, SECURITY, AND DATA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Tests, validation, and a protected write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Evidence is documented; limitations are stated honestly.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73352"/>
            <a:ext cx="5852160" cy="242316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" y="1819656"/>
            <a:ext cx="45720" cy="27432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83080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Testing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30552"/>
            <a:ext cx="5413248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4F8CFF"/>
                </a:solidFill>
                <a:latin typeface="Arial"/>
              </a:rPr>
              <a:t>•  </a:t>
            </a:r>
            <a:r>
              <a:rPr sz="969">
                <a:solidFill>
                  <a:srgbClr val="93A0BF"/>
                </a:solidFill>
                <a:latin typeface="Arial"/>
              </a:rPr>
              <a:t>17 unit tests: chunking, embeddings, LLM, judge, rerank, extraction.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4F8CFF"/>
                </a:solidFill>
                <a:latin typeface="Arial"/>
              </a:rPr>
              <a:t>•  </a:t>
            </a:r>
            <a:r>
              <a:rPr sz="969">
                <a:solidFill>
                  <a:srgbClr val="93A0BF"/>
                </a:solidFill>
                <a:latin typeface="Arial"/>
              </a:rPr>
              <a:t>CI: Ruff + pytest + npm run build.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4F8CFF"/>
                </a:solidFill>
                <a:latin typeface="Arial"/>
              </a:rPr>
              <a:t>•  </a:t>
            </a:r>
            <a:r>
              <a:rPr sz="969">
                <a:solidFill>
                  <a:srgbClr val="93A0BF"/>
                </a:solidFill>
                <a:latin typeface="Arial"/>
              </a:rPr>
              <a:t>End-to-end API/UI verification.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4F8CFF"/>
                </a:solidFill>
                <a:latin typeface="Arial"/>
              </a:rPr>
              <a:t>•  </a:t>
            </a:r>
            <a:r>
              <a:rPr sz="969">
                <a:solidFill>
                  <a:srgbClr val="93A0BF"/>
                </a:solidFill>
                <a:latin typeface="Arial"/>
              </a:rPr>
              <a:t>E2E: upload → indexed → search → ask → rename → delete.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673352"/>
            <a:ext cx="4965192" cy="10972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57416" y="1819656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432" y="1783080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7ECF7"/>
                </a:solidFill>
                <a:latin typeface="Arial"/>
              </a:rPr>
              <a:t>Input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2130552"/>
            <a:ext cx="452627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4F8CFF"/>
                </a:solidFill>
                <a:latin typeface="Arial"/>
              </a:rPr>
              <a:t>•  </a:t>
            </a:r>
            <a:r>
              <a:rPr sz="940">
                <a:solidFill>
                  <a:srgbClr val="93A0BF"/>
                </a:solidFill>
                <a:latin typeface="Arial"/>
              </a:rPr>
              <a:t>Pydantic lengths, k bounds, 10 MB cap, type whitelist.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862072"/>
            <a:ext cx="4965192" cy="10972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57416" y="3008376"/>
            <a:ext cx="45720" cy="27432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2971800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7ECF7"/>
                </a:solidFill>
                <a:latin typeface="Arial"/>
              </a:rPr>
              <a:t>Authentication /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319272"/>
            <a:ext cx="452627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4F8CFF"/>
                </a:solidFill>
                <a:latin typeface="Arial"/>
              </a:rPr>
              <a:t>•  </a:t>
            </a:r>
            <a:r>
              <a:rPr sz="940">
                <a:solidFill>
                  <a:srgbClr val="93A0BF"/>
                </a:solidFill>
                <a:latin typeface="Arial"/>
              </a:rPr>
              <a:t>Admin token on writes; constant-time compare; server-side proxy.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050791"/>
            <a:ext cx="4965192" cy="109728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57416" y="4197096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85432" y="4160520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7ECF7"/>
                </a:solidFill>
                <a:latin typeface="Arial"/>
              </a:rPr>
              <a:t>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4507992"/>
            <a:ext cx="4526279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4F8CFF"/>
                </a:solidFill>
                <a:latin typeface="Arial"/>
              </a:rPr>
              <a:t>•  </a:t>
            </a:r>
            <a:r>
              <a:rPr sz="940">
                <a:solidFill>
                  <a:srgbClr val="93A0BF"/>
                </a:solidFill>
                <a:latin typeface="Arial"/>
              </a:rPr>
              <a:t>60 requests/min per query prefix; 429 + Retry-After.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413248"/>
            <a:ext cx="5852160" cy="658368"/>
          </a:xfrm>
          <a:prstGeom prst="roundRect">
            <a:avLst>
              <a:gd name="adj" fmla="val 8000"/>
            </a:avLst>
          </a:prstGeom>
          <a:solidFill>
            <a:srgbClr val="2A2110"/>
          </a:solidFill>
          <a:ln w="9525">
            <a:solidFill>
              <a:srgbClr val="5A4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5522976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69" b="0" i="0">
                <a:solidFill>
                  <a:srgbClr val="FFB020"/>
                </a:solidFill>
                <a:latin typeface="Arial"/>
              </a:rPr>
              <a:t>Known gap: no automated Mongo integration suite in CI; the manual/Playwright E2E run is in TEST_REPORT.md.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413248"/>
            <a:ext cx="49651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0BF"/>
                </a:solidFill>
                <a:latin typeface="Consolas"/>
              </a:rPr>
              <a:t>pytest tests/ -q  →  17 passed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0BF"/>
                </a:solidFill>
                <a:latin typeface="Consolas"/>
              </a:rPr>
              <a:t>ruff check app  →  clean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CRITERION 8 · LIVE DEMONSTRATION, VIVA, AND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A repeatable demo and a complete submission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The demo starts from an empty knowledge base and exercises the whole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282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F8CFF"/>
                </a:solidFill>
                <a:latin typeface="Consolas"/>
              </a:rPr>
              <a:t>0:00</a:t>
            </a:r>
          </a:p>
        </p:txBody>
      </p:sp>
      <p:sp>
        <p:nvSpPr>
          <p:cNvPr id="11" name="Oval 10"/>
          <p:cNvSpPr/>
          <p:nvPr/>
        </p:nvSpPr>
        <p:spPr>
          <a:xfrm>
            <a:off x="1307592" y="1755648"/>
            <a:ext cx="137160" cy="13716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27048" y="169164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7ECF7"/>
                </a:solidFill>
                <a:latin typeface="Arial"/>
              </a:rPr>
              <a:t>Empty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192024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0 documents, 0 chunks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4144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F8CFF"/>
                </a:solidFill>
                <a:latin typeface="Consolas"/>
              </a:rPr>
              <a:t>0:30</a:t>
            </a:r>
          </a:p>
        </p:txBody>
      </p:sp>
      <p:sp>
        <p:nvSpPr>
          <p:cNvPr id="15" name="Oval 14"/>
          <p:cNvSpPr/>
          <p:nvPr/>
        </p:nvSpPr>
        <p:spPr>
          <a:xfrm>
            <a:off x="1307592" y="2468879"/>
            <a:ext cx="137160" cy="13716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7048" y="240487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7ECF7"/>
                </a:solidFill>
                <a:latin typeface="Arial"/>
              </a:rPr>
              <a:t>Upload a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63347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pending → indexed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F8CFF"/>
                </a:solidFill>
                <a:latin typeface="Consolas"/>
              </a:rPr>
              <a:t>1:30</a:t>
            </a:r>
          </a:p>
        </p:txBody>
      </p:sp>
      <p:sp>
        <p:nvSpPr>
          <p:cNvPr id="19" name="Oval 18"/>
          <p:cNvSpPr/>
          <p:nvPr/>
        </p:nvSpPr>
        <p:spPr>
          <a:xfrm>
            <a:off x="1307592" y="3182112"/>
            <a:ext cx="137160" cy="13716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27048" y="3118104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7ECF7"/>
                </a:solidFill>
                <a:latin typeface="Arial"/>
              </a:rPr>
              <a:t>Search literal + paraphrase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34670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two different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67911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F8CFF"/>
                </a:solidFill>
                <a:latin typeface="Consolas"/>
              </a:rPr>
              <a:t>3:00</a:t>
            </a:r>
          </a:p>
        </p:txBody>
      </p:sp>
      <p:sp>
        <p:nvSpPr>
          <p:cNvPr id="23" name="Oval 22"/>
          <p:cNvSpPr/>
          <p:nvPr/>
        </p:nvSpPr>
        <p:spPr>
          <a:xfrm>
            <a:off x="1307592" y="3895344"/>
            <a:ext cx="137160" cy="13716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27048" y="3831335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7ECF7"/>
                </a:solidFill>
                <a:latin typeface="Arial"/>
              </a:rPr>
              <a:t>Ask a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059935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citations shown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8114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F8CFF"/>
                </a:solidFill>
                <a:latin typeface="Consolas"/>
              </a:rPr>
              <a:t>4:30</a:t>
            </a:r>
          </a:p>
        </p:txBody>
      </p:sp>
      <p:sp>
        <p:nvSpPr>
          <p:cNvPr id="27" name="Oval 26"/>
          <p:cNvSpPr/>
          <p:nvPr/>
        </p:nvSpPr>
        <p:spPr>
          <a:xfrm>
            <a:off x="1307592" y="4608576"/>
            <a:ext cx="137160" cy="13716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27048" y="454456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7ECF7"/>
                </a:solidFill>
                <a:latin typeface="Arial"/>
              </a:rPr>
              <a:t>Ask an unrelated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4773168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refusal, no citations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9437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4F8CFF"/>
                </a:solidFill>
                <a:latin typeface="Consolas"/>
              </a:rPr>
              <a:t>5:30</a:t>
            </a:r>
          </a:p>
        </p:txBody>
      </p:sp>
      <p:sp>
        <p:nvSpPr>
          <p:cNvPr id="31" name="Oval 30"/>
          <p:cNvSpPr/>
          <p:nvPr/>
        </p:nvSpPr>
        <p:spPr>
          <a:xfrm>
            <a:off x="1307592" y="5321808"/>
            <a:ext cx="137160" cy="13716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27048" y="525780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7ECF7"/>
                </a:solidFill>
                <a:latin typeface="Arial"/>
              </a:rPr>
              <a:t>Rename, edit, delete,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548640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full CRUD +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1664208"/>
            <a:ext cx="6199632" cy="23317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522976" y="1810512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50992" y="1773936"/>
            <a:ext cx="5788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7ECF7"/>
                </a:solidFill>
                <a:latin typeface="Arial"/>
              </a:rPr>
              <a:t>Documentation 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2121408"/>
            <a:ext cx="5760720" cy="1764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00" b="1">
                <a:solidFill>
                  <a:srgbClr val="4F8CFF"/>
                </a:solidFill>
                <a:latin typeface="Arial"/>
              </a:rPr>
              <a:t>•  </a:t>
            </a:r>
            <a:r>
              <a:rPr sz="1000">
                <a:solidFill>
                  <a:srgbClr val="93A0BF"/>
                </a:solidFill>
                <a:latin typeface="Arial"/>
              </a:rPr>
              <a:t>Report · feature map · viva sheet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00" b="1">
                <a:solidFill>
                  <a:srgbClr val="4F8CFF"/>
                </a:solidFill>
                <a:latin typeface="Arial"/>
              </a:rPr>
              <a:t>•  </a:t>
            </a:r>
            <a:r>
              <a:rPr sz="1000">
                <a:solidFill>
                  <a:srgbClr val="93A0BF"/>
                </a:solidFill>
                <a:latin typeface="Arial"/>
              </a:rPr>
              <a:t>Demo script · test report · this deck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4160520"/>
            <a:ext cx="6199632" cy="914400"/>
          </a:xfrm>
          <a:prstGeom prst="roundRect">
            <a:avLst>
              <a:gd name="adj" fmla="val 8000"/>
            </a:avLst>
          </a:prstGeom>
          <a:solidFill>
            <a:srgbClr val="2A2110"/>
          </a:solidFill>
          <a:ln w="9525">
            <a:solidFill>
              <a:srgbClr val="5A4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7840" y="4297680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B020"/>
                </a:solidFill>
                <a:latin typeface="Arial"/>
              </a:rPr>
              <a:t>REQUIRED: plagiarism report (Turnitin/DrillBit). The repository cannot generate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525780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3A0BF"/>
                </a:solidFill>
                <a:latin typeface="Arial"/>
              </a:rPr>
              <a:t>Viva: 8 questions and answers in docs/VIVA_PREP.md. Demo/reset commands in docs/DEMO_SCRIPT.md.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08076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93A0BF"/>
                </a:solidFill>
                <a:latin typeface="Arial"/>
              </a:rPr>
              <a:t>Start empty; add everything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RUBRIC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All eight criteria — what we did and where to prove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Use this as the submission map during the viva.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82496"/>
          <a:ext cx="11000232" cy="4069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What we did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8CFF"/>
                          </a:solidFill>
                          <a:latin typeface="Arial"/>
                        </a:rPr>
                        <a:t>Evidence / demo</a:t>
                      </a:r>
                    </a:p>
                  </a:txBody>
                  <a:tcPr marL="54864" marR="54864" marT="18288" marB="18288" anchor="ctr"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Problem &amp; relevance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Document assistant; live upload; empty start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Report §1–2; /documents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NoSQL selection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MongoDB 8.2 + mongot; chunk aggregate; no second store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Slide 3; DATABASE.md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Data modeling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7 collections; embedded vectors; text/HNSW/compound indexes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Slide 4; db.py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CRUD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Create/read/update/delete; transactional delete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Slide 5; ingest.py; UI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Advanced features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Change streams, transactions, $search/$vectorSearch/$rankFusion, $facet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Slide 6; hybrid_search.py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Integration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Next.js + FastAPI + configurable LLM; 4xx handling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Slide 7; web/</a:t>
                      </a:r>
                    </a:p>
                  </a:txBody>
                  <a:tcPr marL="54864" marR="54864" marT="18288" marB="18288" anchor="ctr">
                    <a:solidFill>
                      <a:srgbClr val="10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Testing &amp; security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17 tests, CI, E2E; Pydantic; token; 429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Slide 8; TEST_REPORT.md</a:t>
                      </a:r>
                    </a:p>
                  </a:txBody>
                  <a:tcPr marL="54864" marR="54864" marT="18288" marB="18288" anchor="ctr"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1">
                          <a:solidFill>
                            <a:srgbClr val="E7ECF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Demo, viva, docs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Demo script, viva sheet, report, this deck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6000"/>
                        </a:lnSpc>
                      </a:pPr>
                      <a:r>
                        <a:rPr sz="869" b="0">
                          <a:solidFill>
                            <a:srgbClr val="93A0BF"/>
                          </a:solidFill>
                          <a:latin typeface="Arial"/>
                        </a:rPr>
                        <a:t>Plagiarism report externally</a:t>
                      </a:r>
                    </a:p>
                  </a:txBody>
                  <a:tcPr marL="54864" marR="54864" marT="18288" marB="18288" anchor="ctr">
                    <a:solidFill>
                      <a:srgbClr val="2A21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5870448"/>
            <a:ext cx="11000232" cy="384048"/>
          </a:xfrm>
          <a:prstGeom prst="roundRect">
            <a:avLst>
              <a:gd name="adj" fmla="val 8000"/>
            </a:avLst>
          </a:prstGeom>
          <a:solidFill>
            <a:srgbClr val="2A2110"/>
          </a:solidFill>
          <a:ln w="9525">
            <a:solidFill>
              <a:srgbClr val="5A4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5961888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FFB020"/>
                </a:solidFill>
                <a:latin typeface="Arial"/>
              </a:rPr>
              <a:t>Row 8: the plagiarism report is the one required artifact the repository cannot generate. Attach it before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3A0BF"/>
                </a:solidFill>
                <a:latin typeface="Arial"/>
              </a:rPr>
              <a:t>COGITO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F8CFF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7ECF7"/>
                </a:solidFill>
                <a:latin typeface="Arial"/>
              </a:rPr>
              <a:t>What we delivered — and what is still honest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0BF"/>
                </a:solidFill>
                <a:latin typeface="Arial"/>
              </a:rPr>
              <a:t>A complete NoSQL application with a clear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99616"/>
            <a:ext cx="11000232" cy="10972"/>
          </a:xfrm>
          <a:prstGeom prst="rect">
            <a:avLst/>
          </a:prstGeom>
          <a:solidFill>
            <a:srgbClr val="2A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3A0BF"/>
                </a:solidFill>
                <a:latin typeface="Arial"/>
              </a:rPr>
              <a:t>Cogito · MongoDB NoSQL project ·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82496"/>
            <a:ext cx="5669280" cy="324612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" y="1828800"/>
            <a:ext cx="45720" cy="27432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92224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39696"/>
            <a:ext cx="5230368" cy="2679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MongoDB store + mongot keyword/vector search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Change-stream ingestion + transactional re-index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Hybrid retrieval + cited answers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Full CRUD API and web UI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Aggregation dashboard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REST API + configurable LLM/embeddings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Pydantic validation, admin auth, 429 rate limit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0" b="1">
                <a:solidFill>
                  <a:srgbClr val="4F8CFF"/>
                </a:solidFill>
                <a:latin typeface="Arial"/>
              </a:rPr>
              <a:t>•  </a:t>
            </a:r>
            <a:r>
              <a:rPr sz="960">
                <a:solidFill>
                  <a:srgbClr val="93A0BF"/>
                </a:solidFill>
                <a:latin typeface="Arial"/>
              </a:rPr>
              <a:t>17 tests + CI + documented E2E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82496"/>
            <a:ext cx="5102352" cy="2148840"/>
          </a:xfrm>
          <a:prstGeom prst="roundRect">
            <a:avLst>
              <a:gd name="adj" fmla="val 8000"/>
            </a:avLst>
          </a:prstGeom>
          <a:solidFill>
            <a:srgbClr val="131A2E"/>
          </a:solidFill>
          <a:ln w="9525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0255" y="1828800"/>
            <a:ext cx="45720" cy="274320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2" y="1792224"/>
            <a:ext cx="4690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7ECF7"/>
                </a:solidFill>
                <a:latin typeface="Arial"/>
              </a:rPr>
              <a:t>Honest gaps /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139696"/>
            <a:ext cx="4663440" cy="1581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Per-user authentication and document ACL.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Automated Mongo integration suite in CI.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80" b="1">
                <a:solidFill>
                  <a:srgbClr val="4F8CFF"/>
                </a:solidFill>
                <a:latin typeface="Arial"/>
              </a:rPr>
              <a:t>•  </a:t>
            </a:r>
            <a:r>
              <a:rPr sz="980">
                <a:solidFill>
                  <a:srgbClr val="93A0BF"/>
                </a:solidFill>
                <a:latin typeface="Arial"/>
              </a:rPr>
              <a:t>Production TLS, backups, and 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041648"/>
            <a:ext cx="5102352" cy="886968"/>
          </a:xfrm>
          <a:prstGeom prst="roundRect">
            <a:avLst>
              <a:gd name="adj" fmla="val 8000"/>
            </a:avLst>
          </a:prstGeom>
          <a:solidFill>
            <a:srgbClr val="2A2110"/>
          </a:solidFill>
          <a:ln w="9525">
            <a:solidFill>
              <a:srgbClr val="5A4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4169663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FFB020"/>
                </a:solidFill>
                <a:latin typeface="Arial"/>
              </a:rPr>
              <a:t>REQUIRED: plagiarism report (external).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38928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40" b="0" i="0">
                <a:solidFill>
                  <a:srgbClr val="93A0BF"/>
                </a:solidFill>
                <a:latin typeface="Arial"/>
              </a:rPr>
              <a:t>The rubric is capability-based. We built a document assistant, a valid real-world NoSQL application, and mapped every criterion.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978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3A0BF"/>
                </a:solidFill>
                <a:latin typeface="Arial"/>
              </a:rPr>
              <a:t>One database. Five roles: store · search · vector · event bus · analytics. 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2552</Words>
  <Application>Microsoft Macintosh PowerPoint</Application>
  <PresentationFormat>Widescreen</PresentationFormat>
  <Paragraphs>335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Pranesh Nikhar [CSE (ARTIFICIAL INTELLIGENCE AND MACHINE LEARNING) - 2024]</cp:lastModifiedBy>
  <cp:revision>1</cp:revision>
  <dcterms:created xsi:type="dcterms:W3CDTF">2013-01-27T09:14:16Z</dcterms:created>
  <dcterms:modified xsi:type="dcterms:W3CDTF">2026-10-21T12:30:07Z</dcterms:modified>
  <cp:category/>
</cp:coreProperties>
</file>